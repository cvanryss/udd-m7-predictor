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1B2A4A"/>
                </a:solidFill>
                <a:latin typeface="Arial"/>
              </a:rPr>
              <a:t>Distribución de la clase objetivo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Cantidad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C5D-4D7C-8EBB-848E797A378D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5D-4D7C-8EBB-848E797A378D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5D-4D7C-8EBB-848E797A378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Híbrido</c:v>
                </c:pt>
                <c:pt idx="1">
                  <c:v>Remoto</c:v>
                </c:pt>
                <c:pt idx="2">
                  <c:v>Presencial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79</c:v>
                </c:pt>
                <c:pt idx="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5D-4D7C-8EBB-848E797A37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s-CL" sz="1100" b="0" i="0" u="none" strike="noStrike">
                <a:solidFill>
                  <a:srgbClr val="1B2A4A"/>
                </a:solidFill>
                <a:latin typeface="Arial"/>
              </a:rPr>
              <a:t>Comparación de modelos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Reg. Logística</c:v>
                </c:pt>
                <c:pt idx="1">
                  <c:v>Random Forest</c:v>
                </c:pt>
                <c:pt idx="2">
                  <c:v>RF Optimizado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51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AC-4DED-BFEF-5824352AFA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Reg. Logística</c:v>
                </c:pt>
                <c:pt idx="1">
                  <c:v>Random Forest</c:v>
                </c:pt>
                <c:pt idx="2">
                  <c:v>RF Optimizado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46</c:v>
                </c:pt>
                <c:pt idx="2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AC-4DED-BFEF-5824352AFA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1B2A4A"/>
                </a:solidFill>
                <a:latin typeface="Arial"/>
              </a:rPr>
              <a:t>Variables más influyentes en la predicción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Salario esperado</c:v>
                </c:pt>
                <c:pt idx="1">
                  <c:v>Misión empresa</c:v>
                </c:pt>
                <c:pt idx="2">
                  <c:v>Tipo empresa</c:v>
                </c:pt>
                <c:pt idx="3">
                  <c:v>Factor elección</c:v>
                </c:pt>
                <c:pt idx="4">
                  <c:v>Género</c:v>
                </c:pt>
                <c:pt idx="5">
                  <c:v>Aprendizaje</c:v>
                </c:pt>
                <c:pt idx="6">
                  <c:v>Inf. social</c:v>
                </c:pt>
                <c:pt idx="7">
                  <c:v>Frustración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</c:v>
                </c:pt>
                <c:pt idx="1">
                  <c:v>0.16</c:v>
                </c:pt>
                <c:pt idx="2">
                  <c:v>0.14000000000000001</c:v>
                </c:pt>
                <c:pt idx="3">
                  <c:v>0.13</c:v>
                </c:pt>
                <c:pt idx="4">
                  <c:v>0.1</c:v>
                </c:pt>
                <c:pt idx="5">
                  <c:v>0.09</c:v>
                </c:pt>
                <c:pt idx="6">
                  <c:v>0.08</c:v>
                </c:pt>
                <c:pt idx="7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04-41B0-BB2C-AEBB7545D4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10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9456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Proyecto Módulo 7 · Bootcamp UDD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trabaja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Z?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inteligencia artificial que predice la modalidad laboral preferida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(Remoto · Híbrido · Presencial) a partir de las respuestas de encuesta.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96B4"/>
                </a:solidFill>
              </a:rPr>
              <a:t>Cristian Van Rysselberghe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¿Podemos predecir si un joven prefiere trabajar de forma remota, híbrida o presencial?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El contexto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La pandemia aceleró nuevas formas de trabajo. Las empresas necesitan entender qué espera la próxima generación de profesionales antes de diseñar sus políticas laborales.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Los datos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337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Se utilizó una encuesta con ~235 jóvenes de la Generación Z sobre sus aspiraciones y preferencias laborales, recopilada principalmente en India.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035040" y="2377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La meta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337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Construir un modelo de machine learning que, a partir de las respuestas de la encuesta, clasifique automáticamente la modalidad laboral preferida.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235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encuestados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19202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5146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14600" y="170992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preguntas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19202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663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63440" y="170992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valores nulos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051560"/>
            <a:ext cx="192024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81228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12280" y="170992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clases objetivo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¿Qué tipo de preguntas tenía la encuesta?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Género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País de residencia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Tipo de empresa ideal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Expectativas salariales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Misión que busca en una empresa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Factores para elegir empleador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0A896"/>
                </a:solidFill>
              </a:rPr>
              <a:t>Entorno de trabajo preferido ← OBJETIVO</a:t>
            </a:r>
            <a:endParaRPr lang="en-US" sz="10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0" y="2331720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PROCESO DE SOLUCIÓN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Cargar y explorar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DA"/>
                </a:solidFill>
              </a:rPr>
              <a:t>Se cargó el dataset y se revisó su estructura: tipos de datos, valores únicos y distribuciones.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114800" cy="11430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50292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Limpiar los datos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0662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DA"/>
                </a:solidFill>
              </a:rPr>
              <a:t>Se eliminaron columnas inútiles (país y código postal) y se reagruparon 6 categorías de trabajo en 3 clases claras.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4114800" cy="11430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50292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65760" y="360273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694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Preparar para el modelo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00507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DA"/>
                </a:solidFill>
              </a:rPr>
              <a:t>Las respuestas de texto se convirtieron en números usando One-Hot Encoding (tablas de 0 y 1).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14800" cy="11430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50292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800600" y="10058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Entrenar modelos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40817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DA"/>
                </a:solidFill>
              </a:rPr>
              <a:t>Se entrenaron dos modelos: Regresión Logística (simple) y Random Forest (potente). Se compararon sus resultados.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4114800" cy="11430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50292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800600" y="230428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395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DA"/>
                </a:solidFill>
              </a:rPr>
              <a:t>Se buscaron los mejores parámetros para Random Forest usando una técnica llamada Grid Search (prueba sistemática de configuraciones).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02736"/>
            <a:ext cx="4114800" cy="11430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800600" y="3602736"/>
            <a:ext cx="50292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800600" y="360273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694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Desplegar en 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00507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DA"/>
                </a:solidFill>
              </a:rPr>
              <a:t>El modelo final se exportó y publicó en internet mediante FastAPI + Render para que cualquiera pueda consultarlo en: udd-m7-predictor.onrender.com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METODOLOGÍAS USADAS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🌲  Random Forest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Random Forest es un modelo de ensamble (bagging de árboles). En lugar de pedir la opinión de un solo experto, se le pregunta a cientos de árboles de decisión y se elige la respuesta más votada. Esto hace el modelo más confiable y preciso.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310128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📐  One-Hot Encoding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8416" y="150876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Traducir texto a números. Por ejemplo: si alguien responde "Híbrido", el computador lo transforma en una fila de ceros y unos que el modelo puede procesar.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163056" y="105156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254496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Grid Search (Tuning)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2784" y="150876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Optimizar el modelo probando automáticamente distintas configuraciones, como afinar los parámetros de un motor de auto para extraer el mejor rendimiento posible.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Validación Cruzada (5-fold)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42900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Para no "trampar" al evaluar, el dataset se divide en 5 partes y se evalúa 5 veces, entrenando con 4 partes y probando en la restante. Se promedian los resultados.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18688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3218688" y="297180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310128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API REST (FastAPI + Render)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28416" y="342900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 construyó una "ventanilla digital" desplegada en Render donde cualquier sistema puede enviar datos de un joven y recibir al instante la predicción de su modalidad laboral preferida.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163056" y="297180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254496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Pipeline de 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42900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Todo el proceso (limpieza + codificación + predicción) se empaquetó en un flujo automático, garantizando que los datos siempre se procesen de la misma forma sin errores manuales.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RENDIMIENTO DEL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¿Qué miden estas métricas?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486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53%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Accuracy (Precisión global)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De cada 10 predicciones, ~5 son correctas. Dado que hay 3 clases, un modelo aleatorio lograría ~33%, así que 53% representa una mejora real.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5486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0.47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F1-Macro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82549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Mide el equilibrio entre no perderse casos reales y no generar falsas alarmas, promediado entre las 3 clases. Penaliza si el modelo falla en alguna clase.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5486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65760" y="3557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38%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3557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Baseline (Reg. Logística)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4962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Modelo de comparación. El Random Forest lo supera en 15 puntos porcentuales de accuracy.</a:t>
            </a:r>
            <a:endParaRPr lang="en-US" sz="9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480560" y="1005840"/>
          <a:ext cx="4389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ANÁLISIS VISUAL DEL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Matriz de Confusión — ¿Qué predijo el modelo?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Cada celda muestra cuántas veces el modelo predijo cada clase vs. la realidad. Los números en la diagonal son aciertos.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Real \ Predicho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80467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05840" y="160020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Híbrido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10512" y="1600200"/>
            <a:ext cx="80467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810512" y="160020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Remoto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15184" y="1600200"/>
            <a:ext cx="80467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615184" y="160020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6858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20040" y="2057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Híbrido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2057400"/>
            <a:ext cx="804672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1005840" y="205740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810512" y="2057400"/>
            <a:ext cx="804672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810512" y="205740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615184" y="2057400"/>
            <a:ext cx="804672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615184" y="205740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" y="2651760"/>
            <a:ext cx="6858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20040" y="26517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Remoto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651760"/>
            <a:ext cx="804672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1005840" y="265176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810512" y="2651760"/>
            <a:ext cx="804672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1810512" y="265176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15184" y="2651760"/>
            <a:ext cx="804672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2615184" y="265176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6858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320040" y="32461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" y="3246120"/>
            <a:ext cx="804672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1005840" y="324612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2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810512" y="3246120"/>
            <a:ext cx="804672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1810512" y="324612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1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615184" y="3246120"/>
            <a:ext cx="804672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615184" y="3246120"/>
            <a:ext cx="80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0040" y="4617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</a:rPr>
              <a:t>✅ Diagonal = predicciones correctas</a:t>
            </a:r>
            <a:endParaRPr lang="en-US" sz="9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4572000" y="1005840"/>
          <a:ext cx="42976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DEMOSTRACIÓN DEL MODELO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DA"/>
                </a:solidFill>
              </a:rPr>
              <a:t>Una API en internet que recibe respuestas de encuesta y devuelve la predicción al instante.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06040" cy="457200"/>
          </a:xfrm>
          <a:prstGeom prst="rect">
            <a:avLst/>
          </a:prstGeom>
          <a:solidFill>
            <a:srgbClr val="243A62"/>
          </a:solidFill>
          <a:ln w="12700">
            <a:solidFill>
              <a:srgbClr val="243A6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📥  ENTRADA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Género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Tipo de empresa ideal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Expectativas salariales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295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Misión buscada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Factores de elección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0604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3200400" y="1371600"/>
            <a:ext cx="2606040" cy="457200"/>
          </a:xfrm>
          <a:prstGeom prst="rect">
            <a:avLst/>
          </a:prstGeom>
          <a:solidFill>
            <a:srgbClr val="243A62"/>
          </a:solidFill>
          <a:ln w="12700">
            <a:solidFill>
              <a:srgbClr val="243A6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2004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MODELO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Random Forest (tuned)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300+ árboles de decisión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One-Hot Encoding interno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5295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Entrenado con 188 casos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260604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2D48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26060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03504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📤  SALIDA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1938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b="1" dirty="0">
                <a:solidFill>
                  <a:srgbClr val="02C39A"/>
                </a:solidFill>
              </a:rPr>
              <a:t>Predicción: Híbrido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Confianza: 63.5%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2999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Remoto: 11%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35295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▸  </a:t>
            </a:r>
            <a:r>
              <a:rPr lang="en-US" sz="1050" dirty="0">
                <a:solidFill>
                  <a:srgbClr val="C8D8E8"/>
                </a:solidFill>
              </a:rPr>
              <a:t>Presencial: 25.5%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JSON real:  { "prediction": "Hybrid",  "probabilities": { "Hybrid": 0.635, "Onsite": 0.255, "Remote": 0.11 } 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APRENDIZAJES OBTENIDOS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01. La limpieza importa más que el modelo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Eliminar columnas irrelevantes (país, código postal) y reagrupar categorías tuvo más impacto en los resultados que probar algoritmos más complejos.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8006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02. Los ensambles son más robustos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508760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Random Forest superó a la Regresión Logística porque captura relaciones no lineales entre variables. Los modelos simples tienen límites en datos del mundo real.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2670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03. La accuracy no lo es todo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852928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Con 3 clases desbalanceadas, el F1-Macro es más informativo. Un modelo puede tener buena accuracy pero fallar sistemáticamente en la clase minoritaria (Presencial).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800600" y="2670048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04. El tuning mejora, pero con límites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852928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Grid Search mejoró el modelo un 2%, lo que indica que el techo está más en la cantidad y calidad de los datos (~235 filas) que en los parámetros del algoritmo.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3989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" y="4014216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65760" y="4014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831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05. Del notebook a producción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197096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Encapsular el modelo en una API REST (FastAPI) demostró que los modelos de ML son útiles solo cuando pueden ser consultados por otras aplicaciones del mundo real.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73989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800600" y="4014216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800600" y="40142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831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06. El contexto cultural importa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4197096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El dataset proviene mayoritariamente de India. Aplicar este modelo en otro contexto cultural requeriría nuevos datos, ya que las preferencias laborales varían enormemente.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Conclusión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73691" y="891014"/>
            <a:ext cx="6521669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IA puede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ayudar a entender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quiere trabajar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Z.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20116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precisión final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3474720"/>
            <a:ext cx="20116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78892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889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clases predichas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3474720"/>
            <a:ext cx="20116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12064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API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publicada en internet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610360"/>
            <a:ext cx="7680960" cy="292608"/>
          </a:xfrm>
          <a:prstGeom prst="rect">
            <a:avLst/>
          </a:prstGeom>
          <a:solidFill>
            <a:srgbClr val="24365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48640" y="462087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</a:rPr>
              <a:t>💼  Aplicación real: puede utilizarse en RRHH para diseñar políticas laborales y estrategias de atracción de talento.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1149</Words>
  <Application>Microsoft Office PowerPoint</Application>
  <PresentationFormat>Presentación en pantalla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Modalidad Laboral - Generación Z</dc:title>
  <dc:subject>PptxGenJS Presentation</dc:subject>
  <dc:creator>PptxGenJS</dc:creator>
  <cp:lastModifiedBy>Cristian Van Rysselberghe H.</cp:lastModifiedBy>
  <cp:revision>2</cp:revision>
  <dcterms:created xsi:type="dcterms:W3CDTF">2026-02-22T00:44:31Z</dcterms:created>
  <dcterms:modified xsi:type="dcterms:W3CDTF">2026-02-22T00:59:06Z</dcterms:modified>
</cp:coreProperties>
</file>